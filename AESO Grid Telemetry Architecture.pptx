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4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4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45990"/>
            <a:ext cx="295275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979390"/>
            <a:ext cx="10001250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AESO Power Grid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84036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End-to-End Hybrid Data Architecture leveraging ClickHouse, Redpanda (Kafka), dbt, and Grafana for Alberta Grid Monitoring.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541240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91978"/>
            <a:ext cx="5324475" cy="25693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91978"/>
            <a:ext cx="5324475" cy="25693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806303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3215878"/>
            <a:ext cx="493061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Zero-Latency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596878"/>
            <a:ext cx="469582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Simulates continuous sensor feeds from the Alberta Electric System Operator (AESO) power grid. Operates with sub-second ingestion to compute live regional load and generation metrics across Alberta.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806303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0825" y="3215878"/>
            <a:ext cx="493061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Hybrid Path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596878"/>
            <a:ext cx="469582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Combines ClickHouse Materialized Views for immediate operational dashboarding (5s auto-refresh in Grafana) alongside dbt Core for governed, quality-tested batch analytics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Executive Summary &amp;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67670"/>
            <a:ext cx="2566987" cy="117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512" y="3267670"/>
            <a:ext cx="2566987" cy="1173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966912"/>
            <a:ext cx="559069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Dual-Path 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347912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Sensors push telemetry directly into Redpanda (Kafka protocol). ClickHouse streams raw events into high-throughput storage engines, fanning out into two distinct processing channels: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976437"/>
            <a:ext cx="53054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3420070"/>
            <a:ext cx="22240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REAL-TIME OPERATIONAL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48670"/>
            <a:ext cx="2224087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ClickHouse Materialized Views + SummingMergeTree driving 5s Grafana refreshes.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012" y="3420070"/>
            <a:ext cx="22240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084FC"/>
                </a:solidFill>
                <a:latin typeface="Plus Jakarta Sans"/>
              </a:rPr>
              <a:t>BATCH GOVERNANCE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012" y="3648670"/>
            <a:ext cx="2224087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dbt Core incremental models executing automated data quality &amp; validation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93999"/>
            <a:ext cx="2586037" cy="35653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1993999"/>
            <a:ext cx="2586037" cy="35653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993999"/>
            <a:ext cx="2586037" cy="35653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37" y="1993999"/>
            <a:ext cx="2586037" cy="356532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270224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975074"/>
            <a:ext cx="21352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Redpanda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356074"/>
            <a:ext cx="2033587" cy="155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C++ based, lightweight Kafka-compatible event streaming platform handling real-time grid sensor ingestion with zero JVM dependencies.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887" y="2270224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1887" y="2975074"/>
            <a:ext cx="21352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ClickHouse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887" y="3356074"/>
            <a:ext cx="2033587" cy="181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Column-oriented analytical database providing high-throughput appends, fast primary key range filtering, and server-side aggregation.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270224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2975074"/>
            <a:ext cx="21352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dbt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356074"/>
            <a:ext cx="2033587" cy="181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Analytics engineering framework managing incremental transformations, gold layer modeling, schema constraints, and quality tests.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162" y="2270224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1162" y="2975074"/>
            <a:ext cx="213526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1162" y="3356074"/>
            <a:ext cx="2033587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Real-time operational dashboarding connected to ClickHouse native plugin for 5s live streaming grid metrics visualization.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403574"/>
            <a:ext cx="2476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9525" y="2403574"/>
            <a:ext cx="2190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587" y="2403574"/>
            <a:ext cx="27622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4512" y="2403574"/>
            <a:ext cx="24765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9B7DE5A-A7C2-45DF-9A04-D61198F3A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529"/>
            <a:ext cx="12192000" cy="280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5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8887"/>
            <a:ext cx="11029950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767012"/>
            <a:ext cx="325115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350" y="2767012"/>
            <a:ext cx="3251150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550" y="2767012"/>
            <a:ext cx="325115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443287"/>
            <a:ext cx="5181600" cy="1343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443287"/>
            <a:ext cx="5181600" cy="1343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4563" y="2938462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4600" y="29289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4326" y="2938462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5800" y="292893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5526" y="2938462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3595687"/>
            <a:ext cx="4838700" cy="171450"/>
          </a:xfrm>
          <a:prstGeom prst="rect">
            <a:avLst/>
          </a:prstGeom>
          <a:noFill/>
        </p:spPr>
        <p:txBody>
          <a:bodyPr wrap="square" lIns="119062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REAL-TIME PATH (MATERIALIZED VIEW)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3824287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Continuous server-side minutely aggregations backed by SummingMergeTree. Feeds Grafana dashboards directly with near-zero latency query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3595687"/>
            <a:ext cx="4838700" cy="171450"/>
          </a:xfrm>
          <a:prstGeom prst="rect">
            <a:avLst/>
          </a:prstGeom>
          <a:noFill/>
        </p:spPr>
        <p:txBody>
          <a:bodyPr wrap="square" lIns="119062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Plus Jakarta Sans"/>
              </a:rPr>
              <a:t>GOVERNED PATH (DBT TRANSFORMATIONS)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824287"/>
            <a:ext cx="483870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Executes incremental models (</a:t>
            </a:r>
            <a:r>
              <a:rPr sz="1125" b="0" i="0" u="none">
                <a:solidFill>
                  <a:srgbClr val="38BDF8"/>
                </a:solidFill>
                <a:latin typeface="Plus Jakarta Sans"/>
              </a:rPr>
              <a:t>fct_regional_power_minutely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) enforcing data contracts, schema validation, and lineage documentation.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650" y="3624262"/>
            <a:ext cx="119062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3624262"/>
            <a:ext cx="119062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End-to-End Data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1287"/>
            <a:ext cx="5324475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699867"/>
            <a:ext cx="5324475" cy="538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071812"/>
            <a:ext cx="4543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38BDF8"/>
                </a:solidFill>
                <a:latin typeface="Space Grotesk"/>
              </a:rPr>
              <a:t>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214812"/>
            <a:ext cx="4543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Live Dashboard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600920"/>
            <a:ext cx="559069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Sub-Second Index Skip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981920"/>
            <a:ext cx="5324475" cy="527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By leveraging ClickHouse </a:t>
            </a:r>
            <a:r>
              <a:rPr sz="1275" b="0" i="0" u="none">
                <a:solidFill>
                  <a:srgbClr val="38BDF8"/>
                </a:solidFill>
                <a:latin typeface="Plus Jakarta Sans"/>
              </a:rPr>
              <a:t>MergeTree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and sparse indexing on low-cardinality keys, queries scan minimal data blocks during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380904"/>
            <a:ext cx="5324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Aligns repeating metadata to maximize block compression (LZ4/ZSTD) and optimize operational IO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Performance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342257"/>
          <a:ext cx="11010897" cy="2868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2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2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3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Object / Table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Engine /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Key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3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Ingestion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kafka_telemetry_stream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Kafka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Consumes JSON grid feeds directly from Redpanda topic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3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Raw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stg_raw_telemetry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MergeTree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Columnar primary append-only store with LZ4 compression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3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Real-Time MV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mv_regional_power_minutely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SummingMergeTree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Pre-aggregates megawatt production by minute server-side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34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Gold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fct_regional_power_minutely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dbt Incremental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Governed analytical layer with enforced schema tests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930872"/>
            <a:ext cx="13916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82241" y="2930872"/>
            <a:ext cx="28921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4418" y="2930872"/>
            <a:ext cx="18749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49355" y="2930872"/>
            <a:ext cx="485209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550" y="3498502"/>
            <a:ext cx="13916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82241" y="3498502"/>
            <a:ext cx="289217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74418" y="3498502"/>
            <a:ext cx="18749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49355" y="3498502"/>
            <a:ext cx="485209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550" y="4066133"/>
            <a:ext cx="13916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82241" y="4066133"/>
            <a:ext cx="289217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74418" y="4066133"/>
            <a:ext cx="18749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49355" y="4066133"/>
            <a:ext cx="485209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0550" y="4633763"/>
            <a:ext cx="13916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82241" y="4633763"/>
            <a:ext cx="289217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74418" y="4633763"/>
            <a:ext cx="187493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49355" y="4633763"/>
            <a:ext cx="485209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Data Schema &amp; Modeling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621631"/>
            <a:ext cx="11029950" cy="927496"/>
          </a:xfrm>
          <a:prstGeom prst="roundRect">
            <a:avLst>
              <a:gd name="adj" fmla="val 1026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2525" y="1812131"/>
            <a:ext cx="10229850" cy="546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LowCardinality(String) Optimization: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Applied to repeating categorical fields like </a:t>
            </a:r>
            <a:r>
              <a:rPr sz="1275" b="0" i="0" u="none">
                <a:solidFill>
                  <a:srgbClr val="38BDF8"/>
                </a:solidFill>
                <a:latin typeface="Plus Jakarta Sans"/>
              </a:rPr>
              <a:t>region_id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and </a:t>
            </a:r>
            <a:r>
              <a:rPr sz="1275" b="0" i="0" u="none">
                <a:solidFill>
                  <a:srgbClr val="38BDF8"/>
                </a:solidFill>
                <a:latin typeface="Plus Jakarta Sans"/>
              </a:rPr>
              <a:t>asset_type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to store dictionary keys, vastly reducing memory footprint and disk 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2701528"/>
            <a:ext cx="11029950" cy="927496"/>
          </a:xfrm>
          <a:prstGeom prst="roundRect">
            <a:avLst>
              <a:gd name="adj" fmla="val 1026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525" y="2892028"/>
            <a:ext cx="10229850" cy="546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Float32 Precision Balancing: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Numerical metrics utilize </a:t>
            </a:r>
            <a:r>
              <a:rPr sz="1275" b="0" i="0" u="none">
                <a:solidFill>
                  <a:srgbClr val="38BDF8"/>
                </a:solidFill>
                <a:latin typeface="Plus Jakarta Sans"/>
              </a:rPr>
              <a:t>Float32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rather than high-precision decimals to ensure hyper-efficient vector processing in ClickHouse CPU registers.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3781425"/>
            <a:ext cx="11029950" cy="917971"/>
          </a:xfrm>
          <a:prstGeom prst="roundRect">
            <a:avLst>
              <a:gd name="adj" fmla="val 103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525" y="3971925"/>
            <a:ext cx="10229850" cy="53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Server-Side Aggregations: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Utilizing ClickHouse Materialized Views eliminates runtime calculation overhead during live Grafana dashboard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4851796"/>
            <a:ext cx="11029950" cy="927496"/>
          </a:xfrm>
          <a:prstGeom prst="roundRect">
            <a:avLst>
              <a:gd name="adj" fmla="val 1026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525" y="5042296"/>
            <a:ext cx="10229850" cy="546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Automated Quality Assertions: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dbt tests validate </a:t>
            </a:r>
            <a:r>
              <a:rPr sz="1275" b="0" i="0" u="none">
                <a:solidFill>
                  <a:srgbClr val="38BDF8"/>
                </a:solidFill>
                <a:latin typeface="Plus Jakarta Sans"/>
              </a:rPr>
              <a:t>not_null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conditions and primary key constraints prior to analytical query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2539603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619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689871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5769768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854993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934890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014787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5085159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Key Architectural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19064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Operational Monitoring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694979"/>
            <a:ext cx="519064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Live Grafana Dashboarding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075979"/>
            <a:ext cx="4943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The operational path streams minute-by-minute energy grid telemetry directly to Grafana with a 5-second auto-refresh interval.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967162"/>
            <a:ext cx="4943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System operators monitor power grid generation, load balance, and regional anomalies across Alberta in real time without querying heavy raw tables.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57612"/>
            <a:ext cx="1102995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252912"/>
            <a:ext cx="2536775" cy="1325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3" y="2365325"/>
            <a:ext cx="2536775" cy="1316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42" y="4252912"/>
            <a:ext cx="2536775" cy="13256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050" y="2355800"/>
            <a:ext cx="2536775" cy="1325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7631" y="4452937"/>
            <a:ext cx="22435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Step 1: 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4729162"/>
            <a:ext cx="2136725" cy="64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38BDF8"/>
                </a:solidFill>
                <a:latin typeface="Plus Jakarta Sans"/>
              </a:rPr>
              <a:t>docker compose up -d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Launch ClickHouse, Redpanda, and Grafana stack.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8640" y="2565350"/>
            <a:ext cx="22435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Step 2: Initialize DDL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2058" y="2841575"/>
            <a:ext cx="2136725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Execute SQL scripts for Kafka tables and Materialized Views in ClickHouse.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649" y="4452937"/>
            <a:ext cx="22435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Step 3: Producer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067" y="4729162"/>
            <a:ext cx="2136725" cy="64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38BDF8"/>
                </a:solidFill>
                <a:latin typeface="Plus Jakarta Sans"/>
              </a:rPr>
              <a:t>python producer.py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Stream real-time AESO grid telemetry events into Redpanda.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657" y="2555825"/>
            <a:ext cx="22435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Step 4: dbt &amp;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4075" y="2832050"/>
            <a:ext cx="2136725" cy="64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38BDF8"/>
                </a:solidFill>
                <a:latin typeface="Plus Jakarta Sans"/>
              </a:rPr>
              <a:t>dbt run &amp;&amp; dbt test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Transform gold datasets and inspect live Grafana UI.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Deployment Quickstart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4162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85171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6179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7188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897534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36727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6727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46958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040409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https://www.build-news.com/wp-content/uploads/2025/09/decentralized_energy_infrastructure_transformation.jpeg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286125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www.build-news.com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30848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3825180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https://image-transformer.coolify.kstg.io/image/https://minio.coolify.kstg.io/kstg-web-prod/widget-generation-mix-over-time.png?2026-04-23T10%3A25%3A18.429Z=&amp;width=3840&amp;quality=75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68985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kickstage.com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895350"/>
            <a:ext cx="114300" cy="266700"/>
          </a:xfrm>
          <a:prstGeom prst="roundRect">
            <a:avLst>
              <a:gd name="adj" fmla="val 25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Office PowerPoint</Application>
  <PresentationFormat>Panorámica</PresentationFormat>
  <Paragraphs>78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Plus Jakarta Sans</vt:lpstr>
      <vt:lpstr>Plus Jakarta Sans Medium</vt:lpstr>
      <vt:lpstr>Plus Jakarta Sans SemiBold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Fabian Melo Martinez</cp:lastModifiedBy>
  <cp:revision>2</cp:revision>
  <dcterms:created xsi:type="dcterms:W3CDTF">2013-01-27T09:14:16Z</dcterms:created>
  <dcterms:modified xsi:type="dcterms:W3CDTF">2026-08-14T16:01:00Z</dcterms:modified>
  <cp:category/>
</cp:coreProperties>
</file>